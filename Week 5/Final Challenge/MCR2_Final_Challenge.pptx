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44" r:id="rId4"/>
    <p:sldId id="343" r:id="rId5"/>
    <p:sldId id="345" r:id="rId6"/>
    <p:sldId id="380" r:id="rId7"/>
    <p:sldId id="34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4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07/03/2025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os.org/en/noetic/api/std_msgs/html/msg/Bool.html" TargetMode="External"/><Relationship Id="rId2" Type="http://schemas.openxmlformats.org/officeDocument/2006/relationships/hyperlink" Target="https://docs.ros.org/en/noetic/api/geometry_msgs/html/msg/Point.html" TargetMode="Externa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E79B-7B8F-BAAE-5276-56054251F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Activities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D6DB0-1667-C5C3-00E4-636CF9C0A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Final Activity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140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92B82E-BEE8-5042-7A60-D1F7252F80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This challenge is intended for the student to review the concepts introduced in this week.</a:t>
            </a:r>
          </a:p>
          <a:p>
            <a:pPr lvl="1">
              <a:lnSpc>
                <a:spcPct val="150000"/>
              </a:lnSpc>
            </a:pPr>
            <a:r>
              <a:rPr lang="en-GB" sz="1600" dirty="0"/>
              <a:t>Closed control of a simulated robot in Gazebo.</a:t>
            </a:r>
          </a:p>
          <a:p>
            <a:pPr lvl="1">
              <a:lnSpc>
                <a:spcPct val="150000"/>
              </a:lnSpc>
            </a:pPr>
            <a:endParaRPr lang="en-GB" sz="1600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5EAF29-C32F-5F4B-DE89-423A9CF5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Activity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679E675-17ED-05E5-14ED-36CC87BAA3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0378" y="1825625"/>
            <a:ext cx="43452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633157C-FC7D-4B02-4038-7C6674F4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959" y="3814165"/>
            <a:ext cx="1025566" cy="8943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2B82E-BEE8-5042-7A60-D1F7252F80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77994" y="1452765"/>
                <a:ext cx="6532565" cy="524066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>
                    <a:latin typeface="Nexa-Bold" panose="01000000000000000000" pitchFamily="2" charset="0"/>
                  </a:rPr>
                  <a:t>Description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/>
                  <a:t>Create a node to drive the simulated robot in a square path of a side length 2 m.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/>
                  <a:t>The closed loop controller must be </a:t>
                </a:r>
                <a:r>
                  <a:rPr lang="en-GB" sz="1600" b="1" dirty="0"/>
                  <a:t>robust.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600" dirty="0"/>
                  <a:t>The student must define robustness and implement strategies to achieve it with the controller.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/>
                  <a:t>The controller must define the robot velocities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GB" sz="1600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b="1" dirty="0">
                    <a:latin typeface="Nexa-Bold" panose="01000000000000000000" pitchFamily="2" charset="0"/>
                  </a:rPr>
                  <a:t>NOTE:</a:t>
                </a:r>
                <a:r>
                  <a:rPr lang="en-GB" sz="1600" dirty="0"/>
                  <a:t> If implementing certain controllers, such as </a:t>
                </a:r>
                <a:r>
                  <a:rPr lang="en-GB" sz="1600" b="1" dirty="0"/>
                  <a:t>proportional controllers</a:t>
                </a:r>
                <a:r>
                  <a:rPr lang="en-GB" sz="1600" dirty="0"/>
                  <a:t>, reaching conditions should be set because of the steady-state error (if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&lt;10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GB" sz="1600" dirty="0"/>
                  <a:t> then you have arrived).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/>
                  <a:t>The controller must take into consideration, perturbation, nonlinearities and noise.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highlight>
                      <a:srgbClr val="FFFF00"/>
                    </a:highlight>
                  </a:rPr>
                  <a:t>Puzzlebot wheel radius: 0.05m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highlight>
                      <a:srgbClr val="FFFF00"/>
                    </a:highlight>
                  </a:rPr>
                  <a:t>Puzzlebot wheelbase: 0.19 m</a:t>
                </a:r>
              </a:p>
              <a:p>
                <a:pPr>
                  <a:lnSpc>
                    <a:spcPct val="150000"/>
                  </a:lnSpc>
                </a:pPr>
                <a:endParaRPr lang="en-GB" sz="1200" dirty="0"/>
              </a:p>
              <a:p>
                <a:pPr>
                  <a:lnSpc>
                    <a:spcPct val="150000"/>
                  </a:lnSpc>
                </a:pPr>
                <a:endParaRPr lang="en-GB" sz="1800" dirty="0"/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2B82E-BEE8-5042-7A60-D1F7252F8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77994" y="1452765"/>
                <a:ext cx="6532565" cy="5240665"/>
              </a:xfrm>
              <a:blipFill>
                <a:blip r:embed="rId3"/>
                <a:stretch>
                  <a:fillRect l="-654" r="-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35EAF29-C32F-5F4B-DE89-423A9CF5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Activity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C9A2CA-4974-D638-1EC5-170BB779DD5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601525" y="4261355"/>
            <a:ext cx="1551556" cy="0"/>
          </a:xfrm>
          <a:prstGeom prst="straightConnector1">
            <a:avLst/>
          </a:prstGeom>
          <a:ln w="66675" cap="rnd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08D3B9-846B-E00C-1D72-845CFFEE6514}"/>
              </a:ext>
            </a:extLst>
          </p:cNvPr>
          <p:cNvCxnSpPr>
            <a:cxnSpLocks/>
          </p:cNvCxnSpPr>
          <p:nvPr/>
        </p:nvCxnSpPr>
        <p:spPr>
          <a:xfrm>
            <a:off x="10135116" y="4261355"/>
            <a:ext cx="0" cy="2060546"/>
          </a:xfrm>
          <a:prstGeom prst="straightConnector1">
            <a:avLst/>
          </a:prstGeom>
          <a:ln w="66675" cap="rnd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5FE91E-614C-65A5-F00D-6E59DE1C78F0}"/>
              </a:ext>
            </a:extLst>
          </p:cNvPr>
          <p:cNvCxnSpPr>
            <a:cxnSpLocks/>
          </p:cNvCxnSpPr>
          <p:nvPr/>
        </p:nvCxnSpPr>
        <p:spPr>
          <a:xfrm flipH="1">
            <a:off x="8088742" y="6300137"/>
            <a:ext cx="1982714" cy="0"/>
          </a:xfrm>
          <a:prstGeom prst="straightConnector1">
            <a:avLst/>
          </a:prstGeom>
          <a:ln w="66675" cap="rnd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FAF26A-6DA4-192E-0C26-3E19AC1850E2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8088742" y="4708545"/>
            <a:ext cx="0" cy="1591592"/>
          </a:xfrm>
          <a:prstGeom prst="straightConnector1">
            <a:avLst/>
          </a:prstGeom>
          <a:ln w="66675" cap="rnd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04A8EB98-417C-9B1B-A19B-418F01360B09}"/>
              </a:ext>
            </a:extLst>
          </p:cNvPr>
          <p:cNvSpPr/>
          <p:nvPr/>
        </p:nvSpPr>
        <p:spPr>
          <a:xfrm>
            <a:off x="7458635" y="3693459"/>
            <a:ext cx="3308919" cy="2999972"/>
          </a:xfrm>
          <a:prstGeom prst="roundRect">
            <a:avLst/>
          </a:prstGeom>
          <a:noFill/>
          <a:ln w="508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CE4FAB-91BE-86E8-E074-FDA421799C13}"/>
              </a:ext>
            </a:extLst>
          </p:cNvPr>
          <p:cNvSpPr txBox="1"/>
          <p:nvPr/>
        </p:nvSpPr>
        <p:spPr>
          <a:xfrm>
            <a:off x="8870110" y="6354876"/>
            <a:ext cx="614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rPr>
              <a:t>2 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BDFFC1-37AA-D104-0C51-B0719B534002}"/>
              </a:ext>
            </a:extLst>
          </p:cNvPr>
          <p:cNvSpPr txBox="1"/>
          <p:nvPr/>
        </p:nvSpPr>
        <p:spPr>
          <a:xfrm>
            <a:off x="10153081" y="5014277"/>
            <a:ext cx="614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rPr>
              <a:t>2 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73CBD-8CA3-6CE1-EA5B-56495FB2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219" y="1341546"/>
            <a:ext cx="3745736" cy="226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8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699B9-54DA-9DE2-51AE-A98BB7776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295" y="1680020"/>
            <a:ext cx="5840506" cy="50323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The student must submit a video showing their results.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Duration: Under 4 min. (If longer, increase speed)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Show face, name and student ID number.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Video in English (preferred) or Spanish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Upload to CANVAS 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This is an engineering report (it will be graded accordingly):</a:t>
            </a:r>
          </a:p>
          <a:p>
            <a:pPr lvl="1">
              <a:lnSpc>
                <a:spcPct val="150000"/>
              </a:lnSpc>
            </a:pPr>
            <a:r>
              <a:rPr lang="en-GB" sz="1200" dirty="0"/>
              <a:t>Use the third-person </a:t>
            </a:r>
          </a:p>
          <a:p>
            <a:pPr lvl="1">
              <a:lnSpc>
                <a:spcPct val="150000"/>
              </a:lnSpc>
            </a:pPr>
            <a:r>
              <a:rPr lang="en-GB" sz="1200" dirty="0"/>
              <a:t>Do not use expressions like “the controller works well”, “it's fine”, “robust”, “optimal”, etc. unless you can prove it (be serious with your results).</a:t>
            </a:r>
          </a:p>
          <a:p>
            <a:pPr lvl="1">
              <a:lnSpc>
                <a:spcPct val="150000"/>
              </a:lnSpc>
            </a:pPr>
            <a:r>
              <a:rPr lang="en-GB" sz="1200" dirty="0"/>
              <a:t>Use different metrics (maybe error-based) to analyse your system.</a:t>
            </a:r>
          </a:p>
          <a:p>
            <a:pPr lvl="1">
              <a:lnSpc>
                <a:spcPct val="150000"/>
              </a:lnSpc>
            </a:pPr>
            <a:r>
              <a:rPr lang="en-GB" sz="1200" dirty="0"/>
              <a:t>Show plots of the set points, control inputs, errors, and system output and use them to analyse the behaviour. </a:t>
            </a:r>
          </a:p>
          <a:p>
            <a:pPr lvl="1">
              <a:lnSpc>
                <a:spcPct val="150000"/>
              </a:lnSpc>
            </a:pPr>
            <a:r>
              <a:rPr lang="en-GB" sz="1200" dirty="0"/>
              <a:t>Do not conclude things like “I learned a lot”, “it was very challenging”, “everything looks fine”, etc. Conclusions based on the results, problems faced, solutions, etc.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2B7EE2-0D2B-D010-15BF-C7E9625ACAA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42238998"/>
              </p:ext>
            </p:extLst>
          </p:nvPr>
        </p:nvGraphicFramePr>
        <p:xfrm>
          <a:off x="6172200" y="1825625"/>
          <a:ext cx="5181600" cy="47411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27231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exa Bold" panose="02000000000000000000" pitchFamily="50" charset="0"/>
                        </a:rPr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57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Brief introduction (problem to be solved, solution strategy, team tasks, etc.) </a:t>
                      </a:r>
                      <a:endParaRPr lang="en-GB" sz="110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exa-Light" panose="01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78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Explain how the program works (launch files, libraries made, the structure of the project, etc.).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Use the code but also use flowcharts to explain the code</a:t>
                      </a:r>
                      <a:endParaRPr lang="en-GB" sz="110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exa-Light" panose="010000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If using your own controller, explain in this section the code, parameters, inputs and outputs of your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278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Show the results of the robot being controlled.</a:t>
                      </a:r>
                      <a:endParaRPr lang="en-GB" sz="110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exa-Light" panose="010000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Try different scenarios (other setpoints to control the robot)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85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Explain the methodology followed to tune the controller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Analysis of the robot’s behaviour. What is expected? Is the behaviour good? Why? Establish a metric to verify if the behaviour of the robot is good or not.  Advantages/disadvantages of this type of control? Problems with this type of control?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2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 brief set of conclusions from the task.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The conclusions should be about the practice and the theoretical aspects of the robot, not about your personal experiences.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97777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CEF72C7-A833-6C7D-933C-AFCDCCB3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208417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2B82E-BEE8-5042-7A60-D1F7252F80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-1" y="1592543"/>
                <a:ext cx="6436660" cy="514471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500" dirty="0"/>
                  <a:t>Create a node that sends different goal points according to a user.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/>
                  <a:t>The user must define the goals as a parameter in a launch file.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/>
                  <a:t>The path must be defined by different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500" dirty="0"/>
                  <a:t>,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/>
                  <a:t>The node must send a new goal every time the robot has reached the desired goal.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GB" sz="1500" dirty="0"/>
                  <a:t>The new goal must be sent on a geometry_msgs/point message. More information </a:t>
                </a:r>
                <a:r>
                  <a:rPr lang="en-GB" sz="1500" dirty="0">
                    <a:hlinkClick r:id="rId2"/>
                  </a:rPr>
                  <a:t>here</a:t>
                </a:r>
                <a:r>
                  <a:rPr lang="en-GB" sz="15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/>
                  <a:t>The path generator node must receive a flag from the controller, before sending the new goal point. The flag must be sent as a std_msgs/bool more information </a:t>
                </a:r>
                <a:r>
                  <a:rPr lang="en-GB" sz="1500" dirty="0">
                    <a:hlinkClick r:id="rId3"/>
                  </a:rPr>
                  <a:t>here</a:t>
                </a:r>
                <a:r>
                  <a:rPr lang="en-GB" sz="15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/>
                  <a:t>The student must define what is robustness for this case, and the controller must take that into consideration.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2B82E-BEE8-5042-7A60-D1F7252F8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-1" y="1592543"/>
                <a:ext cx="6436660" cy="5144718"/>
              </a:xfrm>
              <a:blipFill>
                <a:blip r:embed="rId4"/>
                <a:stretch>
                  <a:fillRect l="-2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35EAF29-C32F-5F4B-DE89-423A9CF5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Marks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7EEE9-2030-DE5C-C80C-2C9775042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367" y="3916684"/>
            <a:ext cx="5378073" cy="29413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6FED0C-A951-9945-5B0B-CE912F05F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905" y="1381313"/>
            <a:ext cx="5513295" cy="246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1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7DB4-1472-3344-C53F-D8DFB499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A96104-7AA8-A308-4B5B-1A1AE2F3DA6C}"/>
              </a:ext>
            </a:extLst>
          </p:cNvPr>
          <p:cNvSpPr/>
          <p:nvPr/>
        </p:nvSpPr>
        <p:spPr>
          <a:xfrm>
            <a:off x="3254189" y="1788460"/>
            <a:ext cx="1479176" cy="1479176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Go to Goal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7456FC-7382-513B-5FA5-589EFC6AFFF4}"/>
              </a:ext>
            </a:extLst>
          </p:cNvPr>
          <p:cNvSpPr/>
          <p:nvPr/>
        </p:nvSpPr>
        <p:spPr>
          <a:xfrm>
            <a:off x="7100048" y="3000202"/>
            <a:ext cx="1479176" cy="1479176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Set Next Goal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255C07-99F9-F372-FC4E-CCF31763D85E}"/>
              </a:ext>
            </a:extLst>
          </p:cNvPr>
          <p:cNvSpPr/>
          <p:nvPr/>
        </p:nvSpPr>
        <p:spPr>
          <a:xfrm>
            <a:off x="3472117" y="4926107"/>
            <a:ext cx="1479176" cy="1479176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50DC06B8-642B-92CD-4CAE-C13E5AC3C576}"/>
              </a:ext>
            </a:extLst>
          </p:cNvPr>
          <p:cNvCxnSpPr>
            <a:cxnSpLocks/>
            <a:stCxn id="3" idx="6"/>
            <a:endCxn id="4" idx="0"/>
          </p:cNvCxnSpPr>
          <p:nvPr/>
        </p:nvCxnSpPr>
        <p:spPr>
          <a:xfrm>
            <a:off x="4733365" y="2528048"/>
            <a:ext cx="3106271" cy="472154"/>
          </a:xfrm>
          <a:prstGeom prst="curvedConnector2">
            <a:avLst/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4C8347AD-59DE-7615-BB3A-7CB5FD0EEF52}"/>
              </a:ext>
            </a:extLst>
          </p:cNvPr>
          <p:cNvCxnSpPr>
            <a:cxnSpLocks/>
            <a:stCxn id="3" idx="2"/>
            <a:endCxn id="3" idx="0"/>
          </p:cNvCxnSpPr>
          <p:nvPr/>
        </p:nvCxnSpPr>
        <p:spPr>
          <a:xfrm rot="10800000" flipH="1">
            <a:off x="3254189" y="1788460"/>
            <a:ext cx="739588" cy="739588"/>
          </a:xfrm>
          <a:prstGeom prst="curvedConnector4">
            <a:avLst>
              <a:gd name="adj1" fmla="val -30909"/>
              <a:gd name="adj2" fmla="val 130909"/>
            </a:avLst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DB4965B-A79C-F367-15B7-331A67892360}"/>
              </a:ext>
            </a:extLst>
          </p:cNvPr>
          <p:cNvCxnSpPr>
            <a:cxnSpLocks/>
            <a:stCxn id="4" idx="3"/>
            <a:endCxn id="3" idx="5"/>
          </p:cNvCxnSpPr>
          <p:nvPr/>
        </p:nvCxnSpPr>
        <p:spPr>
          <a:xfrm rot="5400000" flipH="1">
            <a:off x="5310836" y="2256926"/>
            <a:ext cx="1211742" cy="2799923"/>
          </a:xfrm>
          <a:prstGeom prst="curvedConnector3">
            <a:avLst>
              <a:gd name="adj1" fmla="val -7889"/>
            </a:avLst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BA33B68-5FA3-0B13-97DD-BC785D1AAC0B}"/>
              </a:ext>
            </a:extLst>
          </p:cNvPr>
          <p:cNvCxnSpPr>
            <a:cxnSpLocks/>
            <a:stCxn id="4" idx="4"/>
            <a:endCxn id="5" idx="6"/>
          </p:cNvCxnSpPr>
          <p:nvPr/>
        </p:nvCxnSpPr>
        <p:spPr>
          <a:xfrm rot="5400000">
            <a:off x="5802307" y="3628365"/>
            <a:ext cx="1186317" cy="2888343"/>
          </a:xfrm>
          <a:prstGeom prst="curvedConnector2">
            <a:avLst/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25743065-B13A-A920-2A24-E34E6DE3EFD4}"/>
              </a:ext>
            </a:extLst>
          </p:cNvPr>
          <p:cNvCxnSpPr>
            <a:cxnSpLocks/>
            <a:stCxn id="22" idx="5"/>
            <a:endCxn id="5" idx="2"/>
          </p:cNvCxnSpPr>
          <p:nvPr/>
        </p:nvCxnSpPr>
        <p:spPr>
          <a:xfrm rot="16200000" flipH="1">
            <a:off x="2351251" y="4544829"/>
            <a:ext cx="160658" cy="2081073"/>
          </a:xfrm>
          <a:prstGeom prst="curvedConnector2">
            <a:avLst/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C7D702-4D53-21A4-EC5E-D6C72DB70E97}"/>
              </a:ext>
            </a:extLst>
          </p:cNvPr>
          <p:cNvSpPr/>
          <p:nvPr/>
        </p:nvSpPr>
        <p:spPr>
          <a:xfrm>
            <a:off x="128488" y="5135244"/>
            <a:ext cx="1479176" cy="433239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CA23096D-27CE-6ACD-22F2-8CD6B0021C62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rot="16200000" flipV="1">
            <a:off x="2903712" y="3618114"/>
            <a:ext cx="1875091" cy="740896"/>
          </a:xfrm>
          <a:prstGeom prst="curvedConnector3">
            <a:avLst>
              <a:gd name="adj1" fmla="val 43785"/>
            </a:avLst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E08F684-6FF8-9E4A-91AA-34A7E761D694}"/>
              </a:ext>
            </a:extLst>
          </p:cNvPr>
          <p:cNvSpPr txBox="1"/>
          <p:nvPr/>
        </p:nvSpPr>
        <p:spPr>
          <a:xfrm>
            <a:off x="1617021" y="1511923"/>
            <a:ext cx="1239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Not arrived </a:t>
            </a:r>
          </a:p>
          <a:p>
            <a:r>
              <a:rPr lang="en-GB" dirty="0"/>
              <a:t>to goal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C5497-CE6E-BCE8-6A51-AB3D33B9A93A}"/>
              </a:ext>
            </a:extLst>
          </p:cNvPr>
          <p:cNvSpPr txBox="1"/>
          <p:nvPr/>
        </p:nvSpPr>
        <p:spPr>
          <a:xfrm>
            <a:off x="5823927" y="1737268"/>
            <a:ext cx="1276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Arrived at goal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A304A2-DEC9-73AC-26BB-D69B7D2AD18A}"/>
              </a:ext>
            </a:extLst>
          </p:cNvPr>
          <p:cNvSpPr txBox="1"/>
          <p:nvPr/>
        </p:nvSpPr>
        <p:spPr>
          <a:xfrm>
            <a:off x="5265686" y="3377214"/>
            <a:ext cx="1085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Next Goal Set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07530B-17B0-56B0-0588-33BC08407411}"/>
              </a:ext>
            </a:extLst>
          </p:cNvPr>
          <p:cNvSpPr txBox="1"/>
          <p:nvPr/>
        </p:nvSpPr>
        <p:spPr>
          <a:xfrm>
            <a:off x="6889378" y="5296363"/>
            <a:ext cx="1900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All goals reached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2ACF75-F8CD-F384-1378-2892A4DECC3F}"/>
              </a:ext>
            </a:extLst>
          </p:cNvPr>
          <p:cNvSpPr txBox="1"/>
          <p:nvPr/>
        </p:nvSpPr>
        <p:spPr>
          <a:xfrm>
            <a:off x="1564918" y="3302980"/>
            <a:ext cx="2319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Start?</a:t>
            </a:r>
          </a:p>
          <a:p>
            <a:r>
              <a:rPr lang="en-GB" dirty="0"/>
              <a:t>Variables ready? Simulation ready?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A1787DF-A2D9-72E4-0047-F52229411F37}"/>
              </a:ext>
            </a:extLst>
          </p:cNvPr>
          <p:cNvCxnSpPr/>
          <p:nvPr/>
        </p:nvCxnSpPr>
        <p:spPr>
          <a:xfrm flipV="1">
            <a:off x="3379694" y="3822558"/>
            <a:ext cx="461563" cy="860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CF8FD35-8F03-75F8-02A6-A1264A9D5996}"/>
              </a:ext>
            </a:extLst>
          </p:cNvPr>
          <p:cNvCxnSpPr>
            <a:cxnSpLocks/>
          </p:cNvCxnSpPr>
          <p:nvPr/>
        </p:nvCxnSpPr>
        <p:spPr>
          <a:xfrm flipV="1">
            <a:off x="6198418" y="2409597"/>
            <a:ext cx="14123" cy="3679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89C6AFA-C4CF-560E-000B-B91F3BD11CCC}"/>
              </a:ext>
            </a:extLst>
          </p:cNvPr>
          <p:cNvCxnSpPr>
            <a:cxnSpLocks/>
          </p:cNvCxnSpPr>
          <p:nvPr/>
        </p:nvCxnSpPr>
        <p:spPr>
          <a:xfrm flipV="1">
            <a:off x="5600568" y="4100245"/>
            <a:ext cx="14123" cy="3679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2B070BB-8304-04E2-B802-472502F29FDB}"/>
              </a:ext>
            </a:extLst>
          </p:cNvPr>
          <p:cNvCxnSpPr>
            <a:cxnSpLocks/>
          </p:cNvCxnSpPr>
          <p:nvPr/>
        </p:nvCxnSpPr>
        <p:spPr>
          <a:xfrm>
            <a:off x="6556737" y="5351864"/>
            <a:ext cx="40285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CAEA708-046F-E755-BB3C-0D1CB5581937}"/>
              </a:ext>
            </a:extLst>
          </p:cNvPr>
          <p:cNvCxnSpPr>
            <a:cxnSpLocks/>
          </p:cNvCxnSpPr>
          <p:nvPr/>
        </p:nvCxnSpPr>
        <p:spPr>
          <a:xfrm>
            <a:off x="2838904" y="1880749"/>
            <a:ext cx="40285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78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20AE8E-8767-C555-2D23-F792DAD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51542-C980-BEAE-5D84-CF98B073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is challenge </a:t>
            </a:r>
            <a:r>
              <a:rPr lang="en-GB" sz="1200" b="1" dirty="0"/>
              <a:t>not</a:t>
            </a:r>
            <a:r>
              <a:rPr lang="en-GB" sz="1200" dirty="0"/>
              <a:t> a class. The students are encouraged to research, improve tune explain their algorithms by themselves.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MCR2(Manchester Robotics) Reserves the right to answer a question if it is determined that the questions contains partially or totally an answer.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students are welcomed to ask only about the theoretical aspect of the classed.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No remote control or any other form of human interaction with the simulator or ROS is allowed (except at the start when launching the files).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It is </a:t>
            </a:r>
            <a:r>
              <a:rPr lang="en-GB" sz="1200" b="1" dirty="0"/>
              <a:t>forbidden</a:t>
            </a:r>
            <a:r>
              <a:rPr lang="en-GB" sz="1200" dirty="0"/>
              <a:t> to use any other internet libraires with the exception of standard libraires or NumPy.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If in doubt about libraires please ask any teaching assistant.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Improvements to the algorithms are encouraged and may be used as long as the students provide the reasons and a detailed explanation on the improvements.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All the students must be respectful towards each other and abide by the previously defined rules.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Manchester robotics reserves the right to provide any form of grading. Grading and grading methodology are done by the professor in charge of the unit.</a:t>
            </a:r>
          </a:p>
        </p:txBody>
      </p:sp>
    </p:spTree>
    <p:extLst>
      <p:ext uri="{BB962C8B-B14F-4D97-AF65-F5344CB8AC3E}">
        <p14:creationId xmlns:p14="http://schemas.microsoft.com/office/powerpoint/2010/main" val="3260189706"/>
      </p:ext>
    </p:extLst>
  </p:cSld>
  <p:clrMapOvr>
    <a:masterClrMapping/>
  </p:clrMapOvr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R2_Presentation_Master" id="{EB165CC2-8675-499F-9884-C7ACF92FC34D}" vid="{1180BA1F-845E-4705-BAFA-AE8DCB5491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MCR2_PowerPoint_Template</Template>
  <TotalTime>272</TotalTime>
  <Words>845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Consolas</vt:lpstr>
      <vt:lpstr>Nexa Bold</vt:lpstr>
      <vt:lpstr>Nexa-Bold</vt:lpstr>
      <vt:lpstr>Nexa-Book</vt:lpstr>
      <vt:lpstr>Nexa-Light</vt:lpstr>
      <vt:lpstr>MCR2 Theme</vt:lpstr>
      <vt:lpstr>Activities</vt:lpstr>
      <vt:lpstr>Final Activity</vt:lpstr>
      <vt:lpstr>Final Activity</vt:lpstr>
      <vt:lpstr>Deliverables</vt:lpstr>
      <vt:lpstr>Extra Marks</vt:lpstr>
      <vt:lpstr>Tips</vt:lpstr>
      <vt:lpstr>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</dc:title>
  <dc:creator>Mario Martinez</dc:creator>
  <cp:lastModifiedBy>Mario Martinez</cp:lastModifiedBy>
  <cp:revision>13</cp:revision>
  <dcterms:created xsi:type="dcterms:W3CDTF">2023-04-16T17:01:03Z</dcterms:created>
  <dcterms:modified xsi:type="dcterms:W3CDTF">2025-03-07T18:06:02Z</dcterms:modified>
</cp:coreProperties>
</file>